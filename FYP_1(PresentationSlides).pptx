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5" r:id="rId6"/>
    <p:sldId id="261" r:id="rId7"/>
    <p:sldId id="262" r:id="rId8"/>
    <p:sldId id="276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Quattrocento Sans" panose="020B0604020202020204" charset="0"/>
      <p:regular r:id="rId22"/>
      <p:bold r:id="rId23"/>
      <p:italic r:id="rId24"/>
      <p:boldItalic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62" autoAdjust="0"/>
    <p:restoredTop sz="94660"/>
  </p:normalViewPr>
  <p:slideViewPr>
    <p:cSldViewPr snapToGrid="0">
      <p:cViewPr>
        <p:scale>
          <a:sx n="66" d="100"/>
          <a:sy n="66" d="100"/>
        </p:scale>
        <p:origin x="996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0cfb2a59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90cfb2a5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1585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54307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254950" y="262784"/>
            <a:ext cx="11682101" cy="6332433"/>
          </a:xfrm>
          <a:prstGeom prst="rect">
            <a:avLst/>
          </a:prstGeom>
          <a:solidFill>
            <a:srgbClr val="0082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75357" y="2493968"/>
            <a:ext cx="1024128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  <a:defRPr sz="4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79712" y="4973643"/>
            <a:ext cx="10241280" cy="1192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sz="2400">
                <a:solidFill>
                  <a:srgbClr val="F2F2F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" name="Google Shape;24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45933" y="629754"/>
            <a:ext cx="1900127" cy="1914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496389" y="330492"/>
            <a:ext cx="11207931" cy="80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1"/>
          </p:nvPr>
        </p:nvSpPr>
        <p:spPr>
          <a:xfrm>
            <a:off x="496389" y="1371600"/>
            <a:ext cx="11207931" cy="4805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600891" y="1306286"/>
            <a:ext cx="10985862" cy="4336869"/>
          </a:xfrm>
          <a:prstGeom prst="rect">
            <a:avLst/>
          </a:prstGeom>
          <a:solidFill>
            <a:srgbClr val="0082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831850" y="1449978"/>
            <a:ext cx="10515600" cy="2525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831850" y="4027761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8" name="Google Shape;38;p4"/>
          <p:cNvCxnSpPr/>
          <p:nvPr/>
        </p:nvCxnSpPr>
        <p:spPr>
          <a:xfrm>
            <a:off x="604434" y="5742281"/>
            <a:ext cx="10983132" cy="0"/>
          </a:xfrm>
          <a:prstGeom prst="straightConnector1">
            <a:avLst/>
          </a:prstGeom>
          <a:noFill/>
          <a:ln w="25400" cap="flat" cmpd="sng">
            <a:solidFill>
              <a:srgbClr val="00828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496389" y="330492"/>
            <a:ext cx="11207931" cy="80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>
            <a:spLocks noGrp="1"/>
          </p:cNvSpPr>
          <p:nvPr>
            <p:ph type="title"/>
          </p:nvPr>
        </p:nvSpPr>
        <p:spPr>
          <a:xfrm>
            <a:off x="496389" y="330492"/>
            <a:ext cx="11207931" cy="80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38861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520"/>
              <a:buChar char="▪"/>
              <a:defRPr sz="2800"/>
            </a:lvl2pPr>
            <a:lvl3pPr marL="1371600" lvl="2" indent="-381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  <a:defRPr sz="2400"/>
            </a:lvl3pPr>
            <a:lvl4pPr marL="1828800" lvl="3" indent="-355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4pPr>
            <a:lvl5pPr marL="2286000" lvl="4" indent="-355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>
            <a:spLocks noGrp="1"/>
          </p:cNvSpPr>
          <p:nvPr>
            <p:ph type="title"/>
          </p:nvPr>
        </p:nvSpPr>
        <p:spPr>
          <a:xfrm>
            <a:off x="496389" y="330492"/>
            <a:ext cx="11207931" cy="80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1"/>
          </p:nvPr>
        </p:nvSpPr>
        <p:spPr>
          <a:xfrm rot="5400000">
            <a:off x="3697673" y="-1829684"/>
            <a:ext cx="4805363" cy="11207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496389" y="330492"/>
            <a:ext cx="11207931" cy="80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 sz="3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496389" y="1371600"/>
            <a:ext cx="11207931" cy="4805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6576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" name="Google Shape;16;p1"/>
          <p:cNvCxnSpPr/>
          <p:nvPr/>
        </p:nvCxnSpPr>
        <p:spPr>
          <a:xfrm>
            <a:off x="604434" y="1196392"/>
            <a:ext cx="10983132" cy="0"/>
          </a:xfrm>
          <a:prstGeom prst="straightConnector1">
            <a:avLst/>
          </a:prstGeom>
          <a:noFill/>
          <a:ln w="25400" cap="flat" cmpd="sng">
            <a:solidFill>
              <a:srgbClr val="00828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ifza-Khalid/Smartly-Hire-FYP/blob/main/FYP_Report_059.docx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>
            <a:spLocks noGrp="1"/>
          </p:cNvSpPr>
          <p:nvPr>
            <p:ph type="ctrTitle" idx="4294967295"/>
          </p:nvPr>
        </p:nvSpPr>
        <p:spPr>
          <a:xfrm>
            <a:off x="975357" y="2493968"/>
            <a:ext cx="102414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buClr>
                <a:schemeClr val="lt1"/>
              </a:buClr>
              <a:buSzPts val="4800"/>
            </a:pPr>
            <a:r>
              <a:rPr lang="en-US" dirty="0"/>
              <a:t>Final Year Project: </a:t>
            </a:r>
            <a:br>
              <a:rPr lang="en-US" dirty="0"/>
            </a:br>
            <a:r>
              <a:rPr lang="en-US" b="1" dirty="0"/>
              <a:t>Smartly Hire</a:t>
            </a:r>
            <a:endParaRPr b="1" dirty="0"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4294967295"/>
          </p:nvPr>
        </p:nvSpPr>
        <p:spPr>
          <a:xfrm>
            <a:off x="979712" y="4973643"/>
            <a:ext cx="10241400" cy="11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Clr>
                <a:srgbClr val="F2F2F2"/>
              </a:buClr>
              <a:buSzPts val="2400"/>
              <a:buNone/>
            </a:pPr>
            <a:r>
              <a:rPr lang="en-US" dirty="0"/>
              <a:t>Project ID: </a:t>
            </a:r>
            <a:r>
              <a:rPr lang="en-US" b="1" dirty="0"/>
              <a:t>BSSE-FYP-F25-059</a:t>
            </a:r>
            <a:br>
              <a:rPr lang="en-US" b="1" dirty="0"/>
            </a:br>
            <a:endParaRPr b="1" dirty="0"/>
          </a:p>
        </p:txBody>
      </p:sp>
      <p:pic>
        <p:nvPicPr>
          <p:cNvPr id="96" name="Google Shape;9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500" y="1319550"/>
            <a:ext cx="2134500" cy="19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496389" y="330492"/>
            <a:ext cx="112080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 b="1" dirty="0"/>
              <a:t>Project Team</a:t>
            </a:r>
            <a:endParaRPr b="1" dirty="0"/>
          </a:p>
        </p:txBody>
      </p:sp>
      <p:sp>
        <p:nvSpPr>
          <p:cNvPr id="102" name="Google Shape;102;p14"/>
          <p:cNvSpPr txBox="1">
            <a:spLocks noGrp="1"/>
          </p:cNvSpPr>
          <p:nvPr>
            <p:ph type="body" idx="1"/>
          </p:nvPr>
        </p:nvSpPr>
        <p:spPr>
          <a:xfrm>
            <a:off x="496389" y="1371600"/>
            <a:ext cx="11208000" cy="48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buSzPts val="2800"/>
            </a:pPr>
            <a:r>
              <a:rPr lang="en-US" dirty="0"/>
              <a:t>Hifza Khalid (SU92-BSSEM-F22-202)</a:t>
            </a:r>
          </a:p>
          <a:p>
            <a:pPr marL="228600" lvl="0" indent="-228600">
              <a:buSzPts val="2800"/>
            </a:pPr>
            <a:r>
              <a:rPr lang="en-US" dirty="0" err="1"/>
              <a:t>Baqir</a:t>
            </a:r>
            <a:r>
              <a:rPr lang="en-US" dirty="0"/>
              <a:t> Sultan (SU92-BSSEM-F22-201)</a:t>
            </a:r>
          </a:p>
          <a:p>
            <a:pPr marL="228600" lvl="0" indent="-228600">
              <a:buSzPts val="2800"/>
            </a:pPr>
            <a:r>
              <a:rPr lang="en-US" dirty="0"/>
              <a:t>Muhammad </a:t>
            </a:r>
            <a:r>
              <a:rPr lang="en-US" dirty="0" err="1"/>
              <a:t>Zubair</a:t>
            </a:r>
            <a:r>
              <a:rPr lang="en-US" dirty="0"/>
              <a:t> (SU92-BSSEM-F22-196)</a:t>
            </a:r>
          </a:p>
          <a:p>
            <a:pPr marL="0" lvl="0" indent="0">
              <a:buSzPts val="2800"/>
              <a:buNone/>
            </a:pPr>
            <a:endParaRPr dirty="0"/>
          </a:p>
          <a:p>
            <a:pPr marL="228600" lvl="0" indent="-228600">
              <a:spcBef>
                <a:spcPts val="600"/>
              </a:spcBef>
              <a:buSzPts val="2800"/>
            </a:pPr>
            <a:r>
              <a:rPr lang="en-US" b="1" dirty="0"/>
              <a:t>Supervisor: </a:t>
            </a:r>
            <a:r>
              <a:rPr lang="en-US" dirty="0"/>
              <a:t>Mr. Sohail </a:t>
            </a:r>
            <a:r>
              <a:rPr lang="en-US" dirty="0" err="1"/>
              <a:t>Irshad</a:t>
            </a:r>
            <a:endParaRPr dirty="0"/>
          </a:p>
          <a:p>
            <a:pPr marL="228600" lvl="0" indent="-50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496389" y="330492"/>
            <a:ext cx="11207931" cy="80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 b="1" dirty="0"/>
              <a:t>Table of Content</a:t>
            </a:r>
            <a:endParaRPr b="1" dirty="0"/>
          </a:p>
        </p:txBody>
      </p:sp>
      <p:sp>
        <p:nvSpPr>
          <p:cNvPr id="108" name="Google Shape;108;p15"/>
          <p:cNvSpPr txBox="1">
            <a:spLocks noGrp="1"/>
          </p:cNvSpPr>
          <p:nvPr>
            <p:ph type="body" idx="1"/>
          </p:nvPr>
        </p:nvSpPr>
        <p:spPr>
          <a:xfrm>
            <a:off x="496389" y="1371600"/>
            <a:ext cx="11207931" cy="4805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indent="-228600">
              <a:buSzPts val="2800"/>
            </a:pPr>
            <a:r>
              <a:rPr lang="en-US" dirty="0" smtClean="0"/>
              <a:t>Introduction </a:t>
            </a:r>
            <a:r>
              <a:rPr lang="en-US" dirty="0"/>
              <a:t>&amp; </a:t>
            </a:r>
            <a:r>
              <a:rPr lang="en-US" dirty="0" smtClean="0"/>
              <a:t>Background</a:t>
            </a:r>
          </a:p>
          <a:p>
            <a:pPr marL="228600" lvl="0" indent="-228600">
              <a:buSzPts val="2800"/>
            </a:pPr>
            <a:r>
              <a:rPr lang="en-US" dirty="0"/>
              <a:t>Problem </a:t>
            </a:r>
            <a:r>
              <a:rPr lang="en-US" dirty="0" smtClean="0"/>
              <a:t>statement</a:t>
            </a:r>
            <a:endParaRPr lang="en-US" dirty="0"/>
          </a:p>
          <a:p>
            <a:pPr marL="228600" indent="-228600">
              <a:buSzPts val="2800"/>
            </a:pPr>
            <a:r>
              <a:rPr lang="en-US" dirty="0"/>
              <a:t>Proposed Solution</a:t>
            </a:r>
          </a:p>
          <a:p>
            <a:pPr marL="228600" indent="-228600">
              <a:buSzPts val="2800"/>
            </a:pPr>
            <a:r>
              <a:rPr lang="en-US" dirty="0"/>
              <a:t>Features &amp; Scope</a:t>
            </a:r>
          </a:p>
          <a:p>
            <a:pPr marL="228600" indent="-228600">
              <a:buSzPts val="2800"/>
            </a:pPr>
            <a:r>
              <a:rPr lang="en-US" dirty="0"/>
              <a:t>Requirements</a:t>
            </a:r>
          </a:p>
          <a:p>
            <a:pPr marL="228600" indent="-228600">
              <a:buSzPts val="2800"/>
            </a:pPr>
            <a:r>
              <a:rPr lang="en-US" dirty="0"/>
              <a:t>Use Case Diagram</a:t>
            </a:r>
          </a:p>
          <a:p>
            <a:pPr marL="228600" indent="-228600">
              <a:buSzPts val="2800"/>
            </a:pPr>
            <a:r>
              <a:rPr lang="en-US" dirty="0"/>
              <a:t>Functional &amp; Non-Functional Requirements</a:t>
            </a:r>
          </a:p>
          <a:p>
            <a:pPr marL="228600" indent="-228600">
              <a:buSzPts val="2800"/>
            </a:pPr>
            <a:r>
              <a:rPr lang="en-US" dirty="0"/>
              <a:t>System Design (Architecture, ERD, UML)</a:t>
            </a:r>
          </a:p>
          <a:p>
            <a:pPr marL="228600" indent="-228600">
              <a:buSzPts val="2800"/>
            </a:pPr>
            <a:r>
              <a:rPr lang="en-US" dirty="0"/>
              <a:t>Challenges</a:t>
            </a:r>
          </a:p>
          <a:p>
            <a:pPr marL="228600" indent="-228600">
              <a:buSzPts val="2800"/>
            </a:pPr>
            <a:r>
              <a:rPr lang="en-US" dirty="0"/>
              <a:t>Report Link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496389" y="330492"/>
            <a:ext cx="11207931" cy="80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 b="1" dirty="0"/>
              <a:t>Introduction &amp; Background</a:t>
            </a:r>
            <a:endParaRPr b="1" dirty="0"/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1"/>
          </p:nvPr>
        </p:nvSpPr>
        <p:spPr>
          <a:xfrm>
            <a:off x="496389" y="1371600"/>
            <a:ext cx="11207931" cy="4805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b="1"/>
              <a:t>Background </a:t>
            </a:r>
            <a:r>
              <a:rPr lang="en-US" smtClean="0"/>
              <a:t>Remote </a:t>
            </a:r>
            <a:r>
              <a:rPr lang="en-US" dirty="0"/>
              <a:t>hiring is now common, but it brings major issues:</a:t>
            </a:r>
          </a:p>
          <a:p>
            <a:r>
              <a:rPr lang="en-US" b="1" dirty="0"/>
              <a:t>Cheating attempts (~46%)</a:t>
            </a:r>
            <a:endParaRPr lang="en-US" dirty="0"/>
          </a:p>
          <a:p>
            <a:r>
              <a:rPr lang="en-US" b="1" dirty="0"/>
              <a:t>Inconsistent manual scoring (18–32%)</a:t>
            </a:r>
            <a:endParaRPr lang="en-US" dirty="0"/>
          </a:p>
          <a:p>
            <a:r>
              <a:rPr lang="en-US" b="1" dirty="0"/>
              <a:t>Proxy interviews (~22%)</a:t>
            </a:r>
            <a:endParaRPr lang="en-US" dirty="0"/>
          </a:p>
          <a:p>
            <a:r>
              <a:rPr lang="en-US" b="1" dirty="0"/>
              <a:t>Limited real-time monitoring (70% platforms)</a:t>
            </a:r>
            <a:endParaRPr lang="en-US" dirty="0"/>
          </a:p>
          <a:p>
            <a:r>
              <a:rPr lang="en-US" b="1" dirty="0"/>
              <a:t>High cost of proctoring tools (3×–6× higher)</a:t>
            </a:r>
            <a:endParaRPr lang="en-US" dirty="0"/>
          </a:p>
          <a:p>
            <a:r>
              <a:rPr lang="en-US" dirty="0"/>
              <a:t>These gaps demand a </a:t>
            </a:r>
            <a:r>
              <a:rPr lang="en-US" b="1" dirty="0"/>
              <a:t>low-cost, AI-driven and secure hiring solution like Smartly Hire.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496389" y="330492"/>
            <a:ext cx="11207931" cy="80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>
              <a:buSzPts val="3600"/>
            </a:pPr>
            <a:r>
              <a:rPr lang="en-US" b="1" dirty="0"/>
              <a:t>Problem statement</a:t>
            </a:r>
            <a:endParaRPr b="1" dirty="0"/>
          </a:p>
        </p:txBody>
      </p:sp>
      <p:sp>
        <p:nvSpPr>
          <p:cNvPr id="108" name="Google Shape;108;p15"/>
          <p:cNvSpPr txBox="1">
            <a:spLocks noGrp="1"/>
          </p:cNvSpPr>
          <p:nvPr>
            <p:ph type="body" idx="1"/>
          </p:nvPr>
        </p:nvSpPr>
        <p:spPr>
          <a:xfrm>
            <a:off x="496389" y="1371600"/>
            <a:ext cx="11207931" cy="4805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Traditional remote hiring faces major integrity challenges:</a:t>
            </a:r>
          </a:p>
          <a:p>
            <a:r>
              <a:rPr lang="en-US" dirty="0"/>
              <a:t>Impersonation or proxy interviews</a:t>
            </a:r>
          </a:p>
          <a:p>
            <a:r>
              <a:rPr lang="en-US" dirty="0"/>
              <a:t>Use of unauthorized devices (phone, notes, books)</a:t>
            </a:r>
          </a:p>
          <a:p>
            <a:r>
              <a:rPr lang="en-US" dirty="0"/>
              <a:t>Lack of real-time behavior analysis</a:t>
            </a:r>
          </a:p>
          <a:p>
            <a:r>
              <a:rPr lang="en-US" dirty="0"/>
              <a:t>Manual evaluation → biases</a:t>
            </a:r>
          </a:p>
          <a:p>
            <a:r>
              <a:rPr lang="en-US" dirty="0"/>
              <a:t>No automated report generation</a:t>
            </a:r>
          </a:p>
          <a:p>
            <a:r>
              <a:rPr lang="en-US" dirty="0"/>
              <a:t>No multi-modal monitoring system (face, emotion, head pose)</a:t>
            </a:r>
          </a:p>
          <a:p>
            <a:pPr marL="0" lvl="0" indent="0">
              <a:buSzPts val="2800"/>
              <a:buNone/>
            </a:pPr>
            <a:r>
              <a:rPr lang="en-US" b="1" i="1" dirty="0"/>
              <a:t>Smartly Hire solves these by providing AI-assisted proctoring + automated evaluation.</a:t>
            </a:r>
            <a:endParaRPr b="1" i="1" dirty="0"/>
          </a:p>
        </p:txBody>
      </p:sp>
    </p:spTree>
    <p:extLst>
      <p:ext uri="{BB962C8B-B14F-4D97-AF65-F5344CB8AC3E}">
        <p14:creationId xmlns:p14="http://schemas.microsoft.com/office/powerpoint/2010/main" val="1949895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>
            <a:spLocks noGrp="1"/>
          </p:cNvSpPr>
          <p:nvPr>
            <p:ph type="title"/>
          </p:nvPr>
        </p:nvSpPr>
        <p:spPr>
          <a:xfrm>
            <a:off x="496389" y="330492"/>
            <a:ext cx="11207931" cy="80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 b="1" dirty="0"/>
              <a:t>Solution</a:t>
            </a:r>
            <a:endParaRPr b="1" dirty="0"/>
          </a:p>
        </p:txBody>
      </p:sp>
      <p:sp>
        <p:nvSpPr>
          <p:cNvPr id="126" name="Google Shape;126;p18"/>
          <p:cNvSpPr txBox="1">
            <a:spLocks noGrp="1"/>
          </p:cNvSpPr>
          <p:nvPr>
            <p:ph type="body" idx="1"/>
          </p:nvPr>
        </p:nvSpPr>
        <p:spPr>
          <a:xfrm>
            <a:off x="496389" y="1371600"/>
            <a:ext cx="11207931" cy="4805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US" b="1" dirty="0"/>
              <a:t>Smartly Hire is an AI-powered online interview platform providing:</a:t>
            </a:r>
          </a:p>
          <a:p>
            <a:pPr marL="114300" indent="0">
              <a:buNone/>
            </a:pPr>
            <a:r>
              <a:rPr lang="en-US" dirty="0"/>
              <a:t>✔ Secure authentication</a:t>
            </a:r>
            <a:br>
              <a:rPr lang="en-US" dirty="0"/>
            </a:br>
            <a:r>
              <a:rPr lang="en-US" dirty="0"/>
              <a:t>✔ Real-time face detection &amp; tracking</a:t>
            </a:r>
            <a:br>
              <a:rPr lang="en-US" dirty="0"/>
            </a:br>
            <a:r>
              <a:rPr lang="en-US" dirty="0"/>
              <a:t>✔ Emotion recognition</a:t>
            </a:r>
            <a:br>
              <a:rPr lang="en-US" dirty="0"/>
            </a:br>
            <a:r>
              <a:rPr lang="en-US" dirty="0"/>
              <a:t>✔ Head-pose monitoring</a:t>
            </a:r>
            <a:br>
              <a:rPr lang="en-US" dirty="0"/>
            </a:br>
            <a:r>
              <a:rPr lang="en-US" dirty="0"/>
              <a:t>✔ Object detection (phone, book, paper)</a:t>
            </a:r>
            <a:br>
              <a:rPr lang="en-US" dirty="0"/>
            </a:br>
            <a:r>
              <a:rPr lang="en-US" dirty="0"/>
              <a:t>✔ Violation logging &amp; integrity scoring</a:t>
            </a:r>
            <a:br>
              <a:rPr lang="en-US" dirty="0"/>
            </a:br>
            <a:r>
              <a:rPr lang="en-US" dirty="0"/>
              <a:t>✔ Automated report generation</a:t>
            </a:r>
            <a:br>
              <a:rPr lang="en-US" dirty="0"/>
            </a:br>
            <a:r>
              <a:rPr lang="en-US" dirty="0"/>
              <a:t>✔ Job posting, applications, &amp; interview workflows</a:t>
            </a:r>
            <a:br>
              <a:rPr lang="en-US" dirty="0"/>
            </a:br>
            <a:r>
              <a:rPr lang="en-US" dirty="0"/>
              <a:t>✔ LLM-based evaluation (optional)</a:t>
            </a:r>
          </a:p>
          <a:p>
            <a:pPr marL="228600" lvl="0" indent="-50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>
            <a:spLocks noGrp="1"/>
          </p:cNvSpPr>
          <p:nvPr>
            <p:ph type="title"/>
          </p:nvPr>
        </p:nvSpPr>
        <p:spPr>
          <a:xfrm>
            <a:off x="496389" y="330492"/>
            <a:ext cx="11207931" cy="80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 b="1" dirty="0"/>
              <a:t>Features and Scope</a:t>
            </a:r>
            <a:endParaRPr b="1" dirty="0"/>
          </a:p>
        </p:txBody>
      </p:sp>
      <p:sp>
        <p:nvSpPr>
          <p:cNvPr id="132" name="Google Shape;132;p19"/>
          <p:cNvSpPr txBox="1">
            <a:spLocks noGrp="1"/>
          </p:cNvSpPr>
          <p:nvPr>
            <p:ph type="body" idx="1"/>
          </p:nvPr>
        </p:nvSpPr>
        <p:spPr>
          <a:xfrm>
            <a:off x="496389" y="1371600"/>
            <a:ext cx="11207931" cy="4805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r>
              <a:rPr lang="en-US" b="1" dirty="0"/>
              <a:t>Core Features</a:t>
            </a:r>
          </a:p>
          <a:p>
            <a:r>
              <a:rPr lang="en-US" dirty="0"/>
              <a:t>Admin dashboard</a:t>
            </a:r>
          </a:p>
          <a:p>
            <a:r>
              <a:rPr lang="en-US" dirty="0"/>
              <a:t>Job creation &amp; management</a:t>
            </a:r>
          </a:p>
          <a:p>
            <a:r>
              <a:rPr lang="en-US" dirty="0"/>
              <a:t>Candidate applications</a:t>
            </a:r>
          </a:p>
          <a:p>
            <a:r>
              <a:rPr lang="en-US" dirty="0"/>
              <a:t>Proctored interview module</a:t>
            </a:r>
          </a:p>
          <a:p>
            <a:r>
              <a:rPr lang="en-US" dirty="0"/>
              <a:t>Live AI monitoring</a:t>
            </a:r>
          </a:p>
          <a:p>
            <a:r>
              <a:rPr lang="en-US" dirty="0"/>
              <a:t>Automated violation detection</a:t>
            </a:r>
          </a:p>
          <a:p>
            <a:r>
              <a:rPr lang="en-US" dirty="0"/>
              <a:t>PDF/JSON report generation</a:t>
            </a:r>
          </a:p>
          <a:p>
            <a:r>
              <a:rPr lang="en-US" dirty="0"/>
              <a:t>Integrity scoring engine</a:t>
            </a:r>
          </a:p>
          <a:p>
            <a:r>
              <a:rPr lang="en-US" dirty="0"/>
              <a:t>Emotion, distraction, and cheating analysis</a:t>
            </a:r>
          </a:p>
          <a:p>
            <a:r>
              <a:rPr lang="en-US" b="1" dirty="0"/>
              <a:t>Scope</a:t>
            </a:r>
          </a:p>
          <a:p>
            <a:r>
              <a:rPr lang="en-US" dirty="0"/>
              <a:t>Two user roles: Admin &amp; Candidate</a:t>
            </a:r>
          </a:p>
          <a:p>
            <a:r>
              <a:rPr lang="en-US" dirty="0"/>
              <a:t>AI-based monitoring per 3–5 seconds</a:t>
            </a:r>
          </a:p>
          <a:p>
            <a:r>
              <a:rPr lang="en-US" dirty="0"/>
              <a:t>Scalable </a:t>
            </a:r>
            <a:r>
              <a:rPr lang="en-US" dirty="0" err="1"/>
              <a:t>microservices</a:t>
            </a:r>
            <a:r>
              <a:rPr lang="en-US" dirty="0"/>
              <a:t> architecture</a:t>
            </a:r>
          </a:p>
          <a:p>
            <a:r>
              <a:rPr lang="en-US" dirty="0"/>
              <a:t>Cloud-ready deployment</a:t>
            </a:r>
          </a:p>
          <a:p>
            <a:pPr marL="228600" lvl="0" indent="-50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>
            <a:spLocks noGrp="1"/>
          </p:cNvSpPr>
          <p:nvPr>
            <p:ph type="title"/>
          </p:nvPr>
        </p:nvSpPr>
        <p:spPr>
          <a:xfrm>
            <a:off x="496389" y="330492"/>
            <a:ext cx="11207931" cy="80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buSzPts val="3600"/>
            </a:pPr>
            <a:r>
              <a:rPr lang="en-US" b="1" dirty="0"/>
              <a:t>Requirements (</a:t>
            </a:r>
            <a:r>
              <a:rPr lang="en-US" dirty="0"/>
              <a:t>Elicitation Techniques)</a:t>
            </a:r>
            <a:endParaRPr b="1" dirty="0"/>
          </a:p>
        </p:txBody>
      </p:sp>
      <p:sp>
        <p:nvSpPr>
          <p:cNvPr id="132" name="Google Shape;132;p19"/>
          <p:cNvSpPr txBox="1">
            <a:spLocks noGrp="1"/>
          </p:cNvSpPr>
          <p:nvPr>
            <p:ph type="body" idx="1"/>
          </p:nvPr>
        </p:nvSpPr>
        <p:spPr>
          <a:xfrm>
            <a:off x="496389" y="1371600"/>
            <a:ext cx="11207931" cy="4805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0" indent="-457200">
              <a:buSzPts val="2800"/>
            </a:pPr>
            <a:r>
              <a:rPr lang="en-US" dirty="0"/>
              <a:t>Interviews with recruiters/students</a:t>
            </a:r>
          </a:p>
          <a:p>
            <a:pPr marL="635000" indent="-457200">
              <a:buSzPts val="2800"/>
            </a:pPr>
            <a:r>
              <a:rPr lang="en-US" dirty="0"/>
              <a:t>Market and literature review</a:t>
            </a:r>
          </a:p>
          <a:p>
            <a:pPr marL="635000" indent="-457200">
              <a:buSzPts val="2800"/>
            </a:pPr>
            <a:r>
              <a:rPr lang="en-US" dirty="0"/>
              <a:t>System benchmarking of existing platforms</a:t>
            </a:r>
          </a:p>
          <a:p>
            <a:pPr marL="635000" indent="-457200">
              <a:buSzPts val="2800"/>
            </a:pPr>
            <a:r>
              <a:rPr lang="en-US" dirty="0" err="1"/>
              <a:t>Wireframing</a:t>
            </a:r>
            <a:r>
              <a:rPr lang="en-US" dirty="0"/>
              <a:t> &amp; UI prototyping</a:t>
            </a:r>
          </a:p>
          <a:p>
            <a:pPr marL="635000" indent="-457200">
              <a:buSzPts val="2800"/>
            </a:pPr>
            <a:r>
              <a:rPr lang="en-US" dirty="0"/>
              <a:t>SRS documentation</a:t>
            </a:r>
          </a:p>
          <a:p>
            <a:pPr marL="635000" indent="-457200">
              <a:buSzPts val="2800"/>
            </a:pPr>
            <a:r>
              <a:rPr lang="en-US" dirty="0"/>
              <a:t>UML modeling</a:t>
            </a:r>
          </a:p>
        </p:txBody>
      </p:sp>
    </p:spTree>
    <p:extLst>
      <p:ext uri="{BB962C8B-B14F-4D97-AF65-F5344CB8AC3E}">
        <p14:creationId xmlns:p14="http://schemas.microsoft.com/office/powerpoint/2010/main" val="790723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buSzPts val="3600"/>
            </a:pPr>
            <a:r>
              <a:rPr lang="en-US" dirty="0"/>
              <a:t>Requirements (User Types)</a:t>
            </a:r>
            <a:endParaRPr dirty="0"/>
          </a:p>
        </p:txBody>
      </p:sp>
      <p:sp>
        <p:nvSpPr>
          <p:cNvPr id="144" name="Google Shape;144;p21"/>
          <p:cNvSpPr txBox="1">
            <a:spLocks noGrp="1"/>
          </p:cNvSpPr>
          <p:nvPr>
            <p:ph type="body" idx="1"/>
          </p:nvPr>
        </p:nvSpPr>
        <p:spPr>
          <a:xfrm>
            <a:off x="7620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b="1" dirty="0"/>
              <a:t>Admin / Recruiter:</a:t>
            </a:r>
            <a:endParaRPr lang="en-US" dirty="0"/>
          </a:p>
          <a:p>
            <a:r>
              <a:rPr lang="en-US" dirty="0"/>
              <a:t>Create jobs</a:t>
            </a:r>
          </a:p>
          <a:p>
            <a:r>
              <a:rPr lang="en-US" dirty="0"/>
              <a:t>Manage candidates</a:t>
            </a:r>
          </a:p>
          <a:p>
            <a:r>
              <a:rPr lang="en-US" dirty="0"/>
              <a:t>Monitor violations</a:t>
            </a:r>
          </a:p>
          <a:p>
            <a:r>
              <a:rPr lang="en-US" dirty="0"/>
              <a:t>View reports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/>
              <a:t>Candidate:</a:t>
            </a:r>
            <a:endParaRPr lang="en-US" dirty="0"/>
          </a:p>
          <a:p>
            <a:r>
              <a:rPr lang="en-US" dirty="0"/>
              <a:t>Signup/login</a:t>
            </a:r>
          </a:p>
          <a:p>
            <a:r>
              <a:rPr lang="en-US" dirty="0"/>
              <a:t>Apply for jobs</a:t>
            </a:r>
          </a:p>
          <a:p>
            <a:r>
              <a:rPr lang="en-US" dirty="0"/>
              <a:t>Start interview</a:t>
            </a:r>
          </a:p>
          <a:p>
            <a:r>
              <a:rPr lang="en-US" dirty="0"/>
              <a:t>Answer questions</a:t>
            </a:r>
          </a:p>
          <a:p>
            <a:r>
              <a:rPr lang="en-US" dirty="0"/>
              <a:t>Receive evaluation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>
            <a:spLocks noGrp="1"/>
          </p:cNvSpPr>
          <p:nvPr>
            <p:ph type="title"/>
          </p:nvPr>
        </p:nvSpPr>
        <p:spPr>
          <a:xfrm>
            <a:off x="496389" y="330492"/>
            <a:ext cx="4261591" cy="80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 b="1" dirty="0"/>
              <a:t>Use Case Diagram</a:t>
            </a:r>
            <a:endParaRPr b="1" dirty="0"/>
          </a:p>
        </p:txBody>
      </p:sp>
      <p:pic>
        <p:nvPicPr>
          <p:cNvPr id="4" name="Picture 3" descr="D:\Installation\FypUsecase.drawio (1)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91362" y="1355895"/>
            <a:ext cx="4178038" cy="50010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 b="1" dirty="0"/>
              <a:t>Functional &amp; Non Functional Requirements</a:t>
            </a:r>
            <a:endParaRPr b="1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698715" y="1686140"/>
            <a:ext cx="51816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Functional Requirements</a:t>
            </a:r>
          </a:p>
          <a:p>
            <a:r>
              <a:rPr lang="en-US" dirty="0"/>
              <a:t>User authentication</a:t>
            </a:r>
          </a:p>
          <a:p>
            <a:r>
              <a:rPr lang="en-US" dirty="0"/>
              <a:t>Job CRUD</a:t>
            </a:r>
          </a:p>
          <a:p>
            <a:r>
              <a:rPr lang="en-US" dirty="0"/>
              <a:t>Application submission</a:t>
            </a:r>
          </a:p>
          <a:p>
            <a:r>
              <a:rPr lang="en-US" dirty="0"/>
              <a:t>Interview question loading</a:t>
            </a:r>
          </a:p>
          <a:p>
            <a:r>
              <a:rPr lang="en-US" dirty="0"/>
              <a:t>Webcam access</a:t>
            </a:r>
          </a:p>
          <a:p>
            <a:r>
              <a:rPr lang="en-US" dirty="0"/>
              <a:t>AI proctoring (face, pose, objects)</a:t>
            </a:r>
          </a:p>
          <a:p>
            <a:r>
              <a:rPr lang="en-US" dirty="0"/>
              <a:t>Violation logging</a:t>
            </a:r>
          </a:p>
          <a:p>
            <a:r>
              <a:rPr lang="en-US" dirty="0"/>
              <a:t>Auto-submission</a:t>
            </a:r>
          </a:p>
          <a:p>
            <a:r>
              <a:rPr lang="en-US" dirty="0"/>
              <a:t>Report generation</a:t>
            </a:r>
          </a:p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218695" y="1686140"/>
            <a:ext cx="51816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Non-Functional Requirements</a:t>
            </a:r>
          </a:p>
          <a:p>
            <a:r>
              <a:rPr lang="en-US" dirty="0"/>
              <a:t>Performance (3–5 sec frame processing)</a:t>
            </a:r>
          </a:p>
          <a:p>
            <a:r>
              <a:rPr lang="en-US" dirty="0"/>
              <a:t>Security (JWT, HTTPS, DB encryption)</a:t>
            </a:r>
          </a:p>
          <a:p>
            <a:r>
              <a:rPr lang="en-US" dirty="0"/>
              <a:t>Usability (simple UI/UX)</a:t>
            </a:r>
          </a:p>
          <a:p>
            <a:r>
              <a:rPr lang="en-US" dirty="0"/>
              <a:t>Reliability (auto-save, resume session)</a:t>
            </a:r>
          </a:p>
          <a:p>
            <a:r>
              <a:rPr lang="en-US" dirty="0"/>
              <a:t>Maintainability (</a:t>
            </a:r>
            <a:r>
              <a:rPr lang="en-US" dirty="0" err="1"/>
              <a:t>microservices</a:t>
            </a:r>
            <a:r>
              <a:rPr lang="en-US" dirty="0"/>
              <a:t>, logs)</a:t>
            </a:r>
          </a:p>
          <a:p>
            <a:r>
              <a:rPr lang="en-US" dirty="0"/>
              <a:t>Scalability (50+ concurrent interviews)</a:t>
            </a:r>
          </a:p>
          <a:p>
            <a:pPr marL="11430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>
            <a:spLocks noGrp="1"/>
          </p:cNvSpPr>
          <p:nvPr>
            <p:ph type="title"/>
          </p:nvPr>
        </p:nvSpPr>
        <p:spPr>
          <a:xfrm>
            <a:off x="496389" y="330492"/>
            <a:ext cx="11207931" cy="80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 b="1" dirty="0"/>
              <a:t>System Design</a:t>
            </a:r>
            <a:endParaRPr b="1" dirty="0"/>
          </a:p>
        </p:txBody>
      </p:sp>
      <p:sp>
        <p:nvSpPr>
          <p:cNvPr id="162" name="Google Shape;162;p24"/>
          <p:cNvSpPr txBox="1">
            <a:spLocks noGrp="1"/>
          </p:cNvSpPr>
          <p:nvPr>
            <p:ph type="body" idx="1"/>
          </p:nvPr>
        </p:nvSpPr>
        <p:spPr>
          <a:xfrm>
            <a:off x="496389" y="1371600"/>
            <a:ext cx="11207931" cy="4805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Architecture Design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Entity Relationship Diagram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Class Diagram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Sequence </a:t>
            </a:r>
            <a:r>
              <a:rPr lang="en-US" dirty="0" smtClean="0"/>
              <a:t>Diagram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Activity Diagram</a:t>
            </a:r>
            <a:endParaRPr dirty="0"/>
          </a:p>
          <a:p>
            <a:pPr marL="228600" lvl="0" indent="-50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>
            <a:spLocks noGrp="1"/>
          </p:cNvSpPr>
          <p:nvPr>
            <p:ph type="title"/>
          </p:nvPr>
        </p:nvSpPr>
        <p:spPr>
          <a:xfrm>
            <a:off x="496389" y="330492"/>
            <a:ext cx="11207931" cy="80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 b="1" dirty="0"/>
              <a:t>Architecture Design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74C6BE-43C4-5E2A-283D-AA27D104F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554" y="1520630"/>
            <a:ext cx="6270012" cy="50068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6E050AE-C9E6-65D1-9A4D-6070454F38E8}"/>
              </a:ext>
            </a:extLst>
          </p:cNvPr>
          <p:cNvSpPr/>
          <p:nvPr/>
        </p:nvSpPr>
        <p:spPr>
          <a:xfrm>
            <a:off x="7930055" y="6101255"/>
            <a:ext cx="772511" cy="22071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>
            <a:spLocks noGrp="1"/>
          </p:cNvSpPr>
          <p:nvPr>
            <p:ph type="title"/>
          </p:nvPr>
        </p:nvSpPr>
        <p:spPr>
          <a:xfrm>
            <a:off x="496389" y="330492"/>
            <a:ext cx="11207931" cy="80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 b="1" dirty="0"/>
              <a:t>Entity Relationship Diagram</a:t>
            </a:r>
            <a:endParaRPr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890" y="1488972"/>
            <a:ext cx="5914110" cy="48759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>
            <a:spLocks noGrp="1"/>
          </p:cNvSpPr>
          <p:nvPr>
            <p:ph type="title"/>
          </p:nvPr>
        </p:nvSpPr>
        <p:spPr>
          <a:xfrm>
            <a:off x="496389" y="330492"/>
            <a:ext cx="11207931" cy="80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Class Diagram</a:t>
            </a: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520" y="1339298"/>
            <a:ext cx="3543667" cy="50537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>
            <a:spLocks noGrp="1"/>
          </p:cNvSpPr>
          <p:nvPr>
            <p:ph type="title"/>
          </p:nvPr>
        </p:nvSpPr>
        <p:spPr>
          <a:xfrm>
            <a:off x="496389" y="330492"/>
            <a:ext cx="11207931" cy="80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 b="1" dirty="0"/>
              <a:t>Sequence Diagram</a:t>
            </a:r>
            <a:endParaRPr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30" y="1388287"/>
            <a:ext cx="4862056" cy="4981516"/>
          </a:xfrm>
          <a:prstGeom prst="rect">
            <a:avLst/>
          </a:prstGeom>
        </p:spPr>
      </p:pic>
      <p:pic>
        <p:nvPicPr>
          <p:cNvPr id="6" name="Picture 5" descr="D:\Installation\Untitled (5)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133" y="1314637"/>
            <a:ext cx="4211736" cy="5181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>
            <a:spLocks noGrp="1"/>
          </p:cNvSpPr>
          <p:nvPr>
            <p:ph type="title"/>
          </p:nvPr>
        </p:nvSpPr>
        <p:spPr>
          <a:xfrm>
            <a:off x="496389" y="330492"/>
            <a:ext cx="11207931" cy="80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 b="1" dirty="0"/>
              <a:t>Activity Diagram</a:t>
            </a:r>
            <a:endParaRPr b="1" dirty="0"/>
          </a:p>
        </p:txBody>
      </p:sp>
      <p:pic>
        <p:nvPicPr>
          <p:cNvPr id="4" name="Picture 3" descr="D:\Installation\activity.drawi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872" y="1603408"/>
            <a:ext cx="3382963" cy="44824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>
            <a:spLocks noGrp="1"/>
          </p:cNvSpPr>
          <p:nvPr>
            <p:ph type="title"/>
          </p:nvPr>
        </p:nvSpPr>
        <p:spPr>
          <a:xfrm>
            <a:off x="496389" y="330492"/>
            <a:ext cx="11207931" cy="80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Challenges</a:t>
            </a:r>
            <a:endParaRPr/>
          </a:p>
        </p:txBody>
      </p:sp>
      <p:sp>
        <p:nvSpPr>
          <p:cNvPr id="198" name="Google Shape;198;p30"/>
          <p:cNvSpPr txBox="1">
            <a:spLocks noGrp="1"/>
          </p:cNvSpPr>
          <p:nvPr>
            <p:ph type="body" idx="1"/>
          </p:nvPr>
        </p:nvSpPr>
        <p:spPr>
          <a:xfrm>
            <a:off x="496389" y="1371600"/>
            <a:ext cx="11207931" cy="4805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0" indent="-457200">
              <a:buSzPts val="2800"/>
            </a:pPr>
            <a:r>
              <a:rPr lang="en-US" dirty="0"/>
              <a:t>Ensuring real-time AI detection with low latency</a:t>
            </a:r>
          </a:p>
          <a:p>
            <a:pPr marL="635000" indent="-457200">
              <a:buSzPts val="2800"/>
            </a:pPr>
            <a:r>
              <a:rPr lang="en-US" dirty="0"/>
              <a:t>Processing video frames efficiently</a:t>
            </a:r>
          </a:p>
          <a:p>
            <a:pPr marL="635000" indent="-457200">
              <a:buSzPts val="2800"/>
            </a:pPr>
            <a:r>
              <a:rPr lang="en-US" dirty="0"/>
              <a:t>Handling multiple AI models simultaneously</a:t>
            </a:r>
          </a:p>
          <a:p>
            <a:pPr marL="635000" indent="-457200">
              <a:buSzPts val="2800"/>
            </a:pPr>
            <a:r>
              <a:rPr lang="en-US" dirty="0"/>
              <a:t>Synchronizing frontend-backend-AI pipelines</a:t>
            </a:r>
          </a:p>
          <a:p>
            <a:pPr marL="635000" indent="-457200">
              <a:buSzPts val="2800"/>
            </a:pPr>
            <a:r>
              <a:rPr lang="en-US" dirty="0"/>
              <a:t>Managing sensitive data &amp; privacy</a:t>
            </a:r>
          </a:p>
          <a:p>
            <a:pPr marL="635000" indent="-457200">
              <a:buSzPts val="2800"/>
            </a:pPr>
            <a:r>
              <a:rPr lang="en-US" dirty="0"/>
              <a:t>Deploying ML services on cloud containers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>
            <a:spLocks noGrp="1"/>
          </p:cNvSpPr>
          <p:nvPr>
            <p:ph type="title"/>
          </p:nvPr>
        </p:nvSpPr>
        <p:spPr>
          <a:xfrm>
            <a:off x="496389" y="330492"/>
            <a:ext cx="11207931" cy="80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 b="1" dirty="0"/>
              <a:t>Report</a:t>
            </a:r>
            <a:endParaRPr b="1" dirty="0"/>
          </a:p>
        </p:txBody>
      </p:sp>
      <p:sp>
        <p:nvSpPr>
          <p:cNvPr id="204" name="Google Shape;204;p31"/>
          <p:cNvSpPr txBox="1">
            <a:spLocks noGrp="1"/>
          </p:cNvSpPr>
          <p:nvPr>
            <p:ph type="body" idx="1"/>
          </p:nvPr>
        </p:nvSpPr>
        <p:spPr>
          <a:xfrm>
            <a:off x="496389" y="1371600"/>
            <a:ext cx="11207931" cy="4805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SzPts val="2800"/>
              <a:buNone/>
            </a:pPr>
            <a:endParaRPr lang="en-US" dirty="0"/>
          </a:p>
          <a:p>
            <a:pPr marL="0" lvl="0" indent="0">
              <a:buSzPts val="2800"/>
              <a:buNone/>
            </a:pPr>
            <a:endParaRPr lang="en-US" dirty="0"/>
          </a:p>
          <a:p>
            <a:pPr marL="0" lvl="0" indent="0">
              <a:buSzPts val="2800"/>
              <a:buNone/>
            </a:pPr>
            <a:r>
              <a:rPr lang="en-US" b="1" dirty="0"/>
              <a:t>Complete FYP Report:</a:t>
            </a:r>
          </a:p>
          <a:p>
            <a:pPr marL="0" lvl="0" indent="0">
              <a:buSzPts val="2800"/>
              <a:buNone/>
            </a:pPr>
            <a:r>
              <a:rPr lang="en-US" dirty="0">
                <a:hlinkClick r:id="rId3"/>
              </a:rPr>
              <a:t>https://github.com/Hifza-Khalid/Smartly-Hire-FYP/blob/main/FYP_Report_059.docx</a:t>
            </a:r>
            <a:endParaRPr lang="en-US" dirty="0"/>
          </a:p>
          <a:p>
            <a:pPr marL="0" lvl="0" indent="0">
              <a:buSzPts val="2800"/>
              <a:buNone/>
            </a:pP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8150" y="1570982"/>
            <a:ext cx="3206750" cy="36931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455</Words>
  <Application>Microsoft Office PowerPoint</Application>
  <PresentationFormat>Widescreen</PresentationFormat>
  <Paragraphs>116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Quattrocento Sans</vt:lpstr>
      <vt:lpstr>Calibri</vt:lpstr>
      <vt:lpstr>Noto Sans Symbols</vt:lpstr>
      <vt:lpstr>Arial</vt:lpstr>
      <vt:lpstr>Courier New</vt:lpstr>
      <vt:lpstr>Office Theme</vt:lpstr>
      <vt:lpstr>Final Year Project:  Smartly Hire</vt:lpstr>
      <vt:lpstr>Project Team</vt:lpstr>
      <vt:lpstr>Table of Content</vt:lpstr>
      <vt:lpstr>Introduction &amp; Background</vt:lpstr>
      <vt:lpstr>Problem statement</vt:lpstr>
      <vt:lpstr>Solution</vt:lpstr>
      <vt:lpstr>Features and Scope</vt:lpstr>
      <vt:lpstr>Requirements (Elicitation Techniques)</vt:lpstr>
      <vt:lpstr>Requirements (User Types)</vt:lpstr>
      <vt:lpstr>Use Case Diagram</vt:lpstr>
      <vt:lpstr>Functional &amp; Non Functional Requirements</vt:lpstr>
      <vt:lpstr>System Design</vt:lpstr>
      <vt:lpstr>Architecture Design</vt:lpstr>
      <vt:lpstr>Entity Relationship Diagram</vt:lpstr>
      <vt:lpstr>Class Diagram</vt:lpstr>
      <vt:lpstr>Sequence Diagram</vt:lpstr>
      <vt:lpstr>Activity Diagram</vt:lpstr>
      <vt:lpstr>Challenges</vt:lpstr>
      <vt:lpstr>Report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Project:  [Project Title]</dc:title>
  <dc:creator>DELL</dc:creator>
  <cp:lastModifiedBy>DELL</cp:lastModifiedBy>
  <cp:revision>13</cp:revision>
  <dcterms:modified xsi:type="dcterms:W3CDTF">2025-12-09T09:19:56Z</dcterms:modified>
</cp:coreProperties>
</file>